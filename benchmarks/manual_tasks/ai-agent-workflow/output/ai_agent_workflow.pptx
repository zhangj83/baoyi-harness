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6B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18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6B544"/>
                </a:solidFill>
                <a:latin typeface="Microsoft YaHei"/>
              </a:rPr>
              <a:t>AI AGENT · WORKFLOW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804672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AI Agent 工作流程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55648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A8B8CE"/>
                </a:solidFill>
                <a:latin typeface="Microsoft YaHei"/>
              </a:rPr>
              <a:t>从任务输入到可验证交付的六阶段闭环，每个阶段都产出可审计证据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A8B8CE"/>
                </a:solidFill>
                <a:latin typeface="Microsoft YaHei"/>
              </a:rPr>
              <a:t>交付物 · 结构化证据 · 可恢复会话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80360"/>
            <a:ext cx="1975104" cy="2468880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59" y="304495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F6B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2160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输入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160520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接收指令、附件与工作区上下文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4910328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965192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F6B544"/>
                </a:solidFill>
                <a:latin typeface="Microsoft YaHei"/>
              </a:rPr>
              <a:t>产出：结构化任务对象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60903" y="4114800"/>
            <a:ext cx="146305" cy="0"/>
          </a:xfrm>
          <a:prstGeom prst="line">
            <a:avLst/>
          </a:prstGeom>
          <a:ln w="25400">
            <a:solidFill>
              <a:srgbClr val="F6B544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834640" y="2880360"/>
            <a:ext cx="1975104" cy="2468880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999232" y="304495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F6B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372160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理解 Understand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0944" y="4160520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任务分类、能力匹配与计划生成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80944" y="4910328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4965192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F6B544"/>
                </a:solidFill>
                <a:latin typeface="Microsoft YaHei"/>
              </a:rPr>
              <a:t>产出：执行合同与工具面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37176" y="4114800"/>
            <a:ext cx="146304" cy="0"/>
          </a:xfrm>
          <a:prstGeom prst="line">
            <a:avLst/>
          </a:prstGeom>
          <a:ln w="25400">
            <a:solidFill>
              <a:srgbClr val="F6B544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10912" y="2880360"/>
            <a:ext cx="1975104" cy="2468880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75504" y="304495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F6B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7216" y="372160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规划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57216" y="4160520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拆解阶段、预检风险与依赖关系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57216" y="4910328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30368" y="4965192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F6B544"/>
                </a:solidFill>
                <a:latin typeface="Microsoft YaHei"/>
              </a:rPr>
              <a:t>产出：执行计划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013448" y="4114800"/>
            <a:ext cx="146304" cy="0"/>
          </a:xfrm>
          <a:prstGeom prst="line">
            <a:avLst/>
          </a:prstGeom>
          <a:ln w="25400">
            <a:solidFill>
              <a:srgbClr val="F6B544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187184" y="2880360"/>
            <a:ext cx="1975104" cy="2468880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351776" y="304495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F6B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33488" y="372160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执行 Execute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3488" y="4160520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工具调用、原子事务与权限审计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4910328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4965192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F6B544"/>
                </a:solidFill>
                <a:latin typeface="Microsoft YaHei"/>
              </a:rPr>
              <a:t>产出：候选产物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89719" y="4114800"/>
            <a:ext cx="146305" cy="0"/>
          </a:xfrm>
          <a:prstGeom prst="line">
            <a:avLst/>
          </a:prstGeom>
          <a:ln w="25400">
            <a:solidFill>
              <a:srgbClr val="F6B544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363456" y="2880360"/>
            <a:ext cx="1975104" cy="2468880"/>
          </a:xfrm>
          <a:prstGeom prst="roundRect">
            <a:avLst>
              <a:gd name="adj" fmla="val 9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28048" y="3044952"/>
            <a:ext cx="493776" cy="493776"/>
          </a:xfrm>
          <a:prstGeom prst="roundRect">
            <a:avLst>
              <a:gd name="adj" fmla="val 50000"/>
            </a:avLst>
          </a:prstGeom>
          <a:solidFill>
            <a:srgbClr val="F6B5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F1A2B"/>
                </a:solidFill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0" y="3721608"/>
            <a:ext cx="1682496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</a:rPr>
              <a:t>验证 Verify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4160520"/>
            <a:ext cx="1682496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A8B8CE"/>
                </a:solidFill>
                <a:latin typeface="Microsoft YaHei"/>
              </a:rPr>
              <a:t>结构、渲染、视觉与官方评估器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509760" y="4910328"/>
            <a:ext cx="1682496" cy="310896"/>
          </a:xfrm>
          <a:prstGeom prst="roundRect">
            <a:avLst>
              <a:gd name="adj" fmla="val 50000"/>
            </a:avLst>
          </a:prstGeom>
          <a:solidFill>
            <a:srgbClr val="213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82912" y="4965192"/>
            <a:ext cx="153619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F6B544"/>
                </a:solidFill>
                <a:latin typeface="Microsoft YaHei"/>
              </a:rPr>
              <a:t>产出：验证证据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5742432"/>
            <a:ext cx="10881360" cy="512064"/>
          </a:xfrm>
          <a:prstGeom prst="roundRect">
            <a:avLst>
              <a:gd name="adj" fmla="val 50000"/>
            </a:avLst>
          </a:prstGeom>
          <a:solidFill>
            <a:srgbClr val="182B46"/>
          </a:solidFill>
          <a:ln w="9525">
            <a:solidFill>
              <a:srgbClr val="2E426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" y="5852160"/>
            <a:ext cx="105156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6B544"/>
                </a:solidFill>
                <a:latin typeface="Microsoft YaHei"/>
              </a:rPr>
              <a:t>INPUT → UNDERSTAND → PLAN → EXECUTE → VERIFY → DELIVER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46304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2A35"/>
                </a:solidFill>
                <a:latin typeface="Microsoft YaHei"/>
              </a:rPr>
              <a:t>AI Agent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22860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0B981"/>
                </a:solidFill>
                <a:latin typeface="Microsoft YaHei"/>
              </a:rPr>
              <a:t>● 系统在线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46920" y="173736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46920" y="237744"/>
            <a:ext cx="2057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</a:rPr>
              <a:t>＋ 新建任务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896112"/>
            <a:ext cx="1078992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22A35"/>
                </a:solidFill>
                <a:latin typeface="Microsoft YaHei"/>
              </a:rPr>
              <a:t>工作台 · 四阶段运行视图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53312"/>
            <a:ext cx="10789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6707D"/>
                </a:solidFill>
                <a:latin typeface="Microsoft YaHei"/>
              </a:rPr>
              <a:t>复杂任务被拆解为可验证阶段，状态、指标与证据实时可见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810512"/>
            <a:ext cx="2615184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810512"/>
            <a:ext cx="73152" cy="80467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1901952"/>
            <a:ext cx="22494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22A35"/>
                </a:solidFill>
                <a:latin typeface="Microsoft YaHei"/>
              </a:rPr>
              <a:t>1.2s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2267712"/>
            <a:ext cx="22494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7D"/>
                </a:solidFill>
                <a:latin typeface="Microsoft YaHei"/>
              </a:rPr>
              <a:t>平均响应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2152" y="1810512"/>
            <a:ext cx="2615184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02152" y="1810512"/>
            <a:ext cx="73152" cy="80467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1901952"/>
            <a:ext cx="22494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22A35"/>
                </a:solidFill>
                <a:latin typeface="Microsoft YaHei"/>
              </a:rPr>
              <a:t>98.2%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267712"/>
            <a:ext cx="22494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7D"/>
                </a:solidFill>
                <a:latin typeface="Microsoft YaHei"/>
              </a:rPr>
              <a:t>任务完成率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18504" y="1810512"/>
            <a:ext cx="2615184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18504" y="1810512"/>
            <a:ext cx="73152" cy="804672"/>
          </a:xfrm>
          <a:prstGeom prst="rect">
            <a:avLst/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1901952"/>
            <a:ext cx="22494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22A35"/>
                </a:solidFill>
                <a:latin typeface="Microsoft YaHei"/>
              </a:rPr>
              <a:t>99.7%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267712"/>
            <a:ext cx="22494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7D"/>
                </a:solidFill>
                <a:latin typeface="Microsoft YaHei"/>
              </a:rPr>
              <a:t>工具调用成功率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34856" y="1810512"/>
            <a:ext cx="2615184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34856" y="1810512"/>
            <a:ext cx="73152" cy="80467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36024" y="1901952"/>
            <a:ext cx="22494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22A35"/>
                </a:solidFill>
                <a:latin typeface="Microsoft YaHei"/>
              </a:rPr>
              <a:t>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6024" y="2267712"/>
            <a:ext cx="224942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7D"/>
                </a:solidFill>
                <a:latin typeface="Microsoft YaHei"/>
              </a:rPr>
              <a:t>证据覆盖率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2761488"/>
            <a:ext cx="5212080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2761488"/>
            <a:ext cx="82296" cy="2267712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0120" y="2962656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035808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73352" y="294436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22A35"/>
                </a:solidFill>
                <a:latin typeface="Microsoft YaHei"/>
              </a:rPr>
              <a:t>输入 Input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26280" y="301752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305409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3B82F6"/>
                </a:solidFill>
                <a:latin typeface="Microsoft YaHei"/>
              </a:rPr>
              <a:t>INPUT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" y="3639312"/>
            <a:ext cx="4626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66707D"/>
                </a:solidFill>
                <a:latin typeface="Microsoft YaHei"/>
              </a:rPr>
              <a:t>接收指令、附件与工作区上下文，完成意图澄清与队列排序。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" y="4187952"/>
            <a:ext cx="4023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自然语言与多模态输入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自动发现任务相关文件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生成结构化任务对象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92040" y="4187952"/>
            <a:ext cx="713232" cy="64008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92040" y="4261104"/>
            <a:ext cx="7132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B82F6"/>
                </a:solidFill>
                <a:latin typeface="Microsoft YaHei"/>
              </a:rPr>
              <a:t>12+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553712"/>
            <a:ext cx="7132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6707D"/>
                </a:solidFill>
                <a:latin typeface="Microsoft YaHei"/>
              </a:rPr>
              <a:t>输入类型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" y="4864608"/>
            <a:ext cx="18288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3B82F6"/>
                </a:solidFill>
                <a:latin typeface="Microsoft YaHei"/>
              </a:rPr>
              <a:t>查看日志 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2761488"/>
            <a:ext cx="5212080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09360" y="2761488"/>
            <a:ext cx="82296" cy="226771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583680" y="2962656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3035808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96912" y="294436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22A35"/>
                </a:solidFill>
                <a:latin typeface="Microsoft YaHei"/>
              </a:rPr>
              <a:t>理解 Understand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01752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9840" y="305409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0B981"/>
                </a:solidFill>
                <a:latin typeface="Microsoft YaHei"/>
              </a:rPr>
              <a:t>UNDERSTAND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1968" y="3639312"/>
            <a:ext cx="4626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66707D"/>
                </a:solidFill>
                <a:latin typeface="Microsoft YaHei"/>
              </a:rPr>
              <a:t>解析任务语义，匹配类型、能力与执行合同。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01968" y="4187952"/>
            <a:ext cx="4023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任务分类与 Skill 选择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能力与工具面解析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风险与依赖预检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515600" y="4187952"/>
            <a:ext cx="713232" cy="64008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0" y="4261104"/>
            <a:ext cx="7132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0B981"/>
                </a:solidFill>
                <a:latin typeface="Microsoft YaHei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4553712"/>
            <a:ext cx="7132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6707D"/>
                </a:solidFill>
                <a:latin typeface="Microsoft YaHei"/>
              </a:rPr>
              <a:t>任务类型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1968" y="4864608"/>
            <a:ext cx="18288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0B981"/>
                </a:solidFill>
                <a:latin typeface="Microsoft YaHei"/>
              </a:rPr>
              <a:t>查看日志 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5800" y="5230368"/>
            <a:ext cx="5212080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85800" y="5230368"/>
            <a:ext cx="82296" cy="2267712"/>
          </a:xfrm>
          <a:prstGeom prst="rect">
            <a:avLst/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60120" y="5431536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F9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0120" y="5504688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73352" y="541324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22A35"/>
                </a:solidFill>
                <a:latin typeface="Microsoft YaHei"/>
              </a:rPr>
              <a:t>执行 Execute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26280" y="54864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26280" y="55229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97A2E"/>
                </a:solidFill>
                <a:latin typeface="Microsoft YaHei"/>
              </a:rPr>
              <a:t>EXECUTE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8408" y="6108192"/>
            <a:ext cx="4626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66707D"/>
                </a:solidFill>
                <a:latin typeface="Microsoft YaHei"/>
              </a:rPr>
              <a:t>在阶段工具面内执行修改，全部变更走原子事务与审计。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" y="6656831"/>
            <a:ext cx="4023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阶段化工具准入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原子批量事务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失败自动回滚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892040" y="6656831"/>
            <a:ext cx="713232" cy="64008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92040" y="6729983"/>
            <a:ext cx="7132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97A2E"/>
                </a:solidFill>
                <a:latin typeface="Microsoft YaHe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92040" y="7022592"/>
            <a:ext cx="7132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6707D"/>
                </a:solidFill>
                <a:latin typeface="Microsoft YaHei"/>
              </a:rPr>
              <a:t>事务回滚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8408" y="7333488"/>
            <a:ext cx="18288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F97A2E"/>
                </a:solidFill>
                <a:latin typeface="Microsoft YaHei"/>
              </a:rPr>
              <a:t>查看日志 →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309360" y="5230368"/>
            <a:ext cx="5212080" cy="22677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09360" y="5230368"/>
            <a:ext cx="82296" cy="226771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583680" y="5431536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0" y="5504688"/>
            <a:ext cx="56692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96912" y="541324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22A35"/>
                </a:solidFill>
                <a:latin typeface="Microsoft YaHei"/>
              </a:rPr>
              <a:t>验证 Verify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149840" y="54864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49840" y="5522976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8B5CF6"/>
                </a:solidFill>
                <a:latin typeface="Microsoft YaHei"/>
              </a:rPr>
              <a:t>VERIFY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01968" y="6108192"/>
            <a:ext cx="4626864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66707D"/>
                </a:solidFill>
                <a:latin typeface="Microsoft YaHei"/>
              </a:rPr>
              <a:t>以结构、渲染、视觉与官方评估器四层证据确认交付质量。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01968" y="6656831"/>
            <a:ext cx="4023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反例定位与局部修复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证据新鲜度管理</a:t>
            </a:r>
          </a:p>
          <a:p>
            <a:pPr algn="l">
              <a:lnSpc>
                <a:spcPct val="102000"/>
              </a:lnSpc>
            </a:pPr>
            <a:r>
              <a:rPr sz="1000" b="0">
                <a:solidFill>
                  <a:srgbClr val="222A35"/>
                </a:solidFill>
                <a:latin typeface="Microsoft YaHei"/>
              </a:rPr>
              <a:t>•  交付前强制 gate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0515600" y="6656831"/>
            <a:ext cx="713232" cy="64008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515600" y="6729983"/>
            <a:ext cx="71323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Microsoft YaHei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515600" y="7022592"/>
            <a:ext cx="71323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>
                <a:solidFill>
                  <a:srgbClr val="66707D"/>
                </a:solidFill>
                <a:latin typeface="Microsoft YaHei"/>
              </a:rPr>
              <a:t>证据层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601968" y="7333488"/>
            <a:ext cx="18288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B5CF6"/>
                </a:solidFill>
                <a:latin typeface="Microsoft YaHei"/>
              </a:rPr>
              <a:t>查看日志 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0" y="6455664"/>
            <a:ext cx="12191695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F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6519672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6707D"/>
                </a:solidFill>
                <a:latin typeface="Microsoft YaHei"/>
              </a:rPr>
              <a:t>AI Agent Console · 运行状态正常 · 所有阶段证据已归档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