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B341"/>
                </a:solidFill>
                <a:latin typeface="Microsoft YaHei"/>
              </a:rPr>
              <a:t>AI AGENT · 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Microsoft YaHei"/>
              </a:rPr>
              <a:t>AI Agent 工作流程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6"/>
                </a:solidFill>
                <a:latin typeface="Microsoft YaHei"/>
              </a:rPr>
              <a:t>从任务输入到可验证交付的六阶段闭环，每一步都沉淀为可审计证据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63240"/>
            <a:ext cx="1938528" cy="2331720"/>
          </a:xfrm>
          <a:prstGeom prst="roundRect">
            <a:avLst>
              <a:gd name="adj" fmla="val 10000"/>
            </a:avLst>
          </a:prstGeom>
          <a:solidFill>
            <a:srgbClr val="182A44"/>
          </a:solidFill>
          <a:ln w="9525">
            <a:solidFill>
              <a:srgbClr val="2C3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0392" y="32278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5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01B2D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8862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输入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4389120"/>
            <a:ext cx="1645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B8C4D6"/>
                </a:solidFill>
                <a:latin typeface="Microsoft YaHei"/>
              </a:rPr>
              <a:t>接收指令、文件与上下文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56332" y="4229100"/>
            <a:ext cx="155448" cy="0"/>
          </a:xfrm>
          <a:prstGeom prst="line">
            <a:avLst/>
          </a:prstGeom>
          <a:ln w="25400">
            <a:solidFill>
              <a:srgbClr val="F5B34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43784" y="3063240"/>
            <a:ext cx="1938528" cy="2331720"/>
          </a:xfrm>
          <a:prstGeom prst="roundRect">
            <a:avLst>
              <a:gd name="adj" fmla="val 10000"/>
            </a:avLst>
          </a:prstGeom>
          <a:solidFill>
            <a:srgbClr val="182A44"/>
          </a:solidFill>
          <a:ln w="9525">
            <a:solidFill>
              <a:srgbClr val="2C3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08376" y="32278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5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01B2D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8" y="38862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8" y="4389120"/>
            <a:ext cx="1645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B8C4D6"/>
                </a:solidFill>
                <a:latin typeface="Microsoft YaHei"/>
              </a:rPr>
              <a:t>任务分类、能力匹配与计划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14316" y="4229100"/>
            <a:ext cx="155448" cy="0"/>
          </a:xfrm>
          <a:prstGeom prst="line">
            <a:avLst/>
          </a:prstGeom>
          <a:ln w="25400">
            <a:solidFill>
              <a:srgbClr val="F5B34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063240"/>
            <a:ext cx="1938528" cy="2331720"/>
          </a:xfrm>
          <a:prstGeom prst="roundRect">
            <a:avLst>
              <a:gd name="adj" fmla="val 10000"/>
            </a:avLst>
          </a:prstGeom>
          <a:solidFill>
            <a:srgbClr val="182A44"/>
          </a:solidFill>
          <a:ln w="9525">
            <a:solidFill>
              <a:srgbClr val="2C3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66360" y="32278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5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01B2D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8072" y="38862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规划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8072" y="4389120"/>
            <a:ext cx="1645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B8C4D6"/>
                </a:solidFill>
                <a:latin typeface="Microsoft YaHei"/>
              </a:rPr>
              <a:t>生成执行合同与工具面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72300" y="4229100"/>
            <a:ext cx="155448" cy="0"/>
          </a:xfrm>
          <a:prstGeom prst="line">
            <a:avLst/>
          </a:prstGeom>
          <a:ln w="25400">
            <a:solidFill>
              <a:srgbClr val="F5B34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59752" y="3063240"/>
            <a:ext cx="1938528" cy="2331720"/>
          </a:xfrm>
          <a:prstGeom prst="roundRect">
            <a:avLst>
              <a:gd name="adj" fmla="val 10000"/>
            </a:avLst>
          </a:prstGeom>
          <a:solidFill>
            <a:srgbClr val="182A44"/>
          </a:solidFill>
          <a:ln w="9525">
            <a:solidFill>
              <a:srgbClr val="2C3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24344" y="32278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5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01B2D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6056" y="38862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执行 Execute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6056" y="4389120"/>
            <a:ext cx="1645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B8C4D6"/>
                </a:solidFill>
                <a:latin typeface="Microsoft YaHei"/>
              </a:rPr>
              <a:t>工具调用、事务与沙箱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30284" y="4229100"/>
            <a:ext cx="155448" cy="0"/>
          </a:xfrm>
          <a:prstGeom prst="line">
            <a:avLst/>
          </a:prstGeom>
          <a:ln w="25400">
            <a:solidFill>
              <a:srgbClr val="F5B34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317736" y="3063240"/>
            <a:ext cx="1938528" cy="2331720"/>
          </a:xfrm>
          <a:prstGeom prst="roundRect">
            <a:avLst>
              <a:gd name="adj" fmla="val 10000"/>
            </a:avLst>
          </a:prstGeom>
          <a:solidFill>
            <a:srgbClr val="182A44"/>
          </a:solidFill>
          <a:ln w="9525">
            <a:solidFill>
              <a:srgbClr val="2C3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482328" y="32278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5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01B2D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3886200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验证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4389120"/>
            <a:ext cx="1645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B8C4D6"/>
                </a:solidFill>
                <a:latin typeface="Microsoft YaHei"/>
              </a:rPr>
              <a:t>结构、渲染、视觉与评估器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806440"/>
            <a:ext cx="10817352" cy="566928"/>
          </a:xfrm>
          <a:prstGeom prst="roundRect">
            <a:avLst>
              <a:gd name="adj" fmla="val 50000"/>
            </a:avLst>
          </a:prstGeom>
          <a:solidFill>
            <a:srgbClr val="182A44"/>
          </a:solidFill>
          <a:ln w="9525">
            <a:solidFill>
              <a:srgbClr val="2C3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91616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5B341"/>
                </a:solidFill>
                <a:latin typeface="Microsoft YaHei"/>
              </a:rPr>
              <a:t>INPUT → UNDERSTAND → PLAN → EXECUTE → VERIFY → DELIVER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A35"/>
                </a:solidFill>
                <a:latin typeface="Microsoft YaHei"/>
              </a:rPr>
              <a:t>AI Agent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219456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B981"/>
                </a:solidFill>
                <a:latin typeface="Microsoft YaHei"/>
              </a:rPr>
              <a:t>● 系统在线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73736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23774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＋ 新建任务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932688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22A35"/>
                </a:solidFill>
                <a:latin typeface="Microsoft YaHei"/>
              </a:rPr>
              <a:t>工作台 · 四阶段运行视图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480"/>
                </a:solidFill>
                <a:latin typeface="Microsoft YaHei"/>
              </a:rPr>
              <a:t>将复杂任务拆解为可验证的阶段，实时跟踪每一步的状态与证据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57400"/>
            <a:ext cx="521208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057400"/>
            <a:ext cx="82296" cy="2084831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" y="225856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331720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240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22A35"/>
                </a:solidFill>
                <a:latin typeface="Microsoft YaHei"/>
              </a:rPr>
              <a:t>输入 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23134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350008"/>
            <a:ext cx="868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B82F6"/>
                </a:solidFill>
                <a:latin typeface="Microsoft YaHei"/>
              </a:rPr>
              <a:t>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916936"/>
            <a:ext cx="46268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B7480"/>
                </a:solidFill>
                <a:latin typeface="Microsoft YaHei"/>
              </a:rPr>
              <a:t>接收用户指令、附件与工作区上下文，完成意图澄清与队列排序。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447288"/>
            <a:ext cx="4626864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支持自然语言与多模态输入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自动发现任务相关文件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生成结构化任务对象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057400"/>
            <a:ext cx="521208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057400"/>
            <a:ext cx="82296" cy="208483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0" y="225856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331720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240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22A35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78440" y="23134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2350008"/>
            <a:ext cx="868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0B981"/>
                </a:solidFill>
                <a:latin typeface="Microsoft YaHei"/>
              </a:rPr>
              <a:t>UNDERSTAND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916936"/>
            <a:ext cx="46268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B7480"/>
                </a:solidFill>
                <a:latin typeface="Microsoft YaHei"/>
              </a:rPr>
              <a:t>解析任务语义，匹配任务类型、所需能力与执行合同。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3447288"/>
            <a:ext cx="4626864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任务分类与 Skill 选择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能力与工具面解析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风险与依赖预检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279392"/>
            <a:ext cx="521208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4279392"/>
            <a:ext cx="82296" cy="2084831"/>
          </a:xfrm>
          <a:prstGeom prst="rect">
            <a:avLst/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0120" y="4480559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553712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446227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22A35"/>
                </a:solidFill>
                <a:latin typeface="Microsoft YaHei"/>
              </a:rPr>
              <a:t>执行 Execute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453542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4572000"/>
            <a:ext cx="868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97A2E"/>
                </a:solidFill>
                <a:latin typeface="Microsoft YaHei"/>
              </a:rPr>
              <a:t>EXECUTE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" y="5138927"/>
            <a:ext cx="46268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B7480"/>
                </a:solidFill>
                <a:latin typeface="Microsoft YaHei"/>
              </a:rPr>
              <a:t>在阶段工具面内执行修改，所有变更走原子事务与权限审计。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" y="5669279"/>
            <a:ext cx="4626864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阶段化工具准入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原子批量事务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失败自动回滚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4279392"/>
            <a:ext cx="521208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4279392"/>
            <a:ext cx="82296" cy="2084831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583680" y="4480559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553712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46227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22A35"/>
                </a:solidFill>
                <a:latin typeface="Microsoft YaHei"/>
              </a:rPr>
              <a:t>验证 Verify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453542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78440" y="4572000"/>
            <a:ext cx="868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8B5CF6"/>
                </a:solidFill>
                <a:latin typeface="Microsoft YaHei"/>
              </a:rPr>
              <a:t>VERIFY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1968" y="5138927"/>
            <a:ext cx="46268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B7480"/>
                </a:solidFill>
                <a:latin typeface="Microsoft YaHei"/>
              </a:rPr>
              <a:t>用结构、渲染、视觉与官方评估器四层证据确认交付质量。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5669279"/>
            <a:ext cx="4626864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反例定位与局部修复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证据新鲜度管理</a:t>
            </a:r>
          </a:p>
          <a:p>
            <a:pPr algn="l">
              <a:lnSpc>
                <a:spcPct val="102000"/>
              </a:lnSpc>
            </a:pPr>
            <a:r>
              <a:rPr sz="1050" b="0">
                <a:solidFill>
                  <a:srgbClr val="222A35"/>
                </a:solidFill>
                <a:latin typeface="Microsoft YaHei"/>
              </a:rPr>
              <a:t>•  交付前强制 gate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6519672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B7480"/>
                </a:solidFill>
                <a:latin typeface="Microsoft YaHei"/>
              </a:rPr>
              <a:t>AI Agent Console · 运行状态正常 · 所有阶段证据已归档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