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18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6B544"/>
                </a:solidFill>
                <a:latin typeface="Microsoft YaHei"/>
              </a:rPr>
              <a:t>AI AGENT · WORKFLOW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38360" y="457200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38360" y="512064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● 系统就绪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804672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AI Agent 工作流程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8B8CE"/>
                </a:solidFill>
                <a:latin typeface="Microsoft YaHei"/>
              </a:rPr>
              <a:t>从任务输入到可验证交付的六阶段闭环，每个阶段都产出可审计证据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交付物 · 结构化证据 · 可恢复会话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59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输入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接收指令、附件与工作区上下文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6B544"/>
                </a:solidFill>
                <a:latin typeface="Microsoft YaHei"/>
              </a:rPr>
              <a:t>产出：结构化任务对象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660903" y="4096511"/>
            <a:ext cx="146305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34640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99232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80944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80944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任务分类、能力匹配与计划生成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80944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54096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B82F6"/>
                </a:solidFill>
                <a:latin typeface="Microsoft YaHei"/>
              </a:rPr>
              <a:t>产出：执行合同与工具面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80944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80944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837176" y="4096511"/>
            <a:ext cx="146304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10912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75504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57216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规划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57216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拆解阶段、预检风险与依赖关系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0368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06B6D4"/>
                </a:solidFill>
                <a:latin typeface="Microsoft YaHei"/>
              </a:rPr>
              <a:t>产出：执行计划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57216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57216" y="5221224"/>
            <a:ext cx="1514246" cy="9144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013448" y="4096511"/>
            <a:ext cx="146304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187184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51776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33488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执行 Execute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3488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工具调用、原子事务与权限审计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33488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97A2E"/>
                </a:solidFill>
                <a:latin typeface="Microsoft YaHei"/>
              </a:rPr>
              <a:t>产出：候选产物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33488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33488" y="5221224"/>
            <a:ext cx="1261872" cy="91440"/>
          </a:xfrm>
          <a:prstGeom prst="roundRect">
            <a:avLst>
              <a:gd name="adj" fmla="val 50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189719" y="4096511"/>
            <a:ext cx="146305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363456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528048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验证 Verify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09760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结构、渲染、视觉与官方评估器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09760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82912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0B981"/>
                </a:solidFill>
                <a:latin typeface="Microsoft YaHei"/>
              </a:rPr>
              <a:t>产出：验证证据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60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509760" y="5221224"/>
            <a:ext cx="1009497" cy="914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58368" y="5742432"/>
            <a:ext cx="10881360" cy="512064"/>
          </a:xfrm>
          <a:prstGeom prst="roundRect">
            <a:avLst>
              <a:gd name="adj" fmla="val 50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852160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6B544"/>
                </a:solidFill>
                <a:latin typeface="Microsoft YaHei"/>
              </a:rPr>
              <a:t>INPUT → UNDERSTAND → PLAN → EXECUTE → VERIFY → DELIVER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46304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A35"/>
                </a:solidFill>
                <a:latin typeface="Microsoft YaHei"/>
              </a:rPr>
              <a:t>AI Agent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2860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B981"/>
                </a:solidFill>
                <a:latin typeface="Microsoft YaHei"/>
              </a:rPr>
              <a:t>● 系统在线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73736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246888"/>
            <a:ext cx="1234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帮助文档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173736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46920" y="23774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＋ 新建任务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896112"/>
            <a:ext cx="10789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22A35"/>
                </a:solidFill>
                <a:latin typeface="Microsoft YaHei"/>
              </a:rPr>
              <a:t>工作台 · 四阶段运行视图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353312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6707D"/>
                </a:solidFill>
                <a:latin typeface="Microsoft YaHei"/>
              </a:rPr>
              <a:t>复杂任务被拆解为可验证阶段，状态、指标与证据实时可见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810512"/>
            <a:ext cx="73152" cy="80467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1.2s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平均响应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02152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02152" y="1810512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98.2%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任务完成率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8504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18504" y="1810512"/>
            <a:ext cx="73152" cy="804672"/>
          </a:xfrm>
          <a:prstGeom prst="rect">
            <a:avLst/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99.7%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工具调用成功率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34856" y="1810512"/>
            <a:ext cx="73152" cy="80467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024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024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证据覆盖率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276148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2761488"/>
            <a:ext cx="82296" cy="226771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0120" y="296265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03580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3352" y="294436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输入 Input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26280" y="301752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305409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3B82F6"/>
                </a:solidFill>
                <a:latin typeface="Microsoft YaHei"/>
              </a:rPr>
              <a:t>INPUT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" y="3621024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接收指令、附件与工作区上下文，完成意图澄清与队列排序。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" y="4169664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自然语言与多模态输入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自动发现任务相关文件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生成结构化任务对象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2040" y="4169664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4242816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B82F6"/>
                </a:solidFill>
                <a:latin typeface="Microsoft YaHei"/>
              </a:rPr>
              <a:t>12+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535424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输入类型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8408" y="4901183"/>
            <a:ext cx="4023360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78408" y="4901183"/>
            <a:ext cx="4023360" cy="914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8408" y="501091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B82F6"/>
                </a:solidFill>
                <a:latin typeface="Microsoft YaHei"/>
              </a:rPr>
              <a:t>查看日志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501091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B82F6"/>
                </a:solidFill>
                <a:latin typeface="Microsoft YaHei"/>
              </a:rPr>
              <a:t>查看证据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70632" y="501091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B82F6"/>
                </a:solidFill>
                <a:latin typeface="Microsoft YaHei"/>
              </a:rPr>
              <a:t>导出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09360" y="276148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09360" y="2761488"/>
            <a:ext cx="82296" cy="22677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83680" y="296265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0" y="303580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96912" y="294436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49840" y="301752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305409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0B981"/>
                </a:solidFill>
                <a:latin typeface="Microsoft YaHei"/>
              </a:rPr>
              <a:t>UNDERSTAND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1968" y="3621024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解析任务语义，匹配类型、能力与执行合同。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1968" y="4169664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任务分类与 Skill 选择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能力与工具面解析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风险与依赖预检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515600" y="4169664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4242816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0B981"/>
                </a:solidFill>
                <a:latin typeface="Microsoft YaHe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4535424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任务类型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601968" y="4901183"/>
            <a:ext cx="4023360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01968" y="4901183"/>
            <a:ext cx="4023360" cy="914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1968" y="501091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B981"/>
                </a:solidFill>
                <a:latin typeface="Microsoft YaHei"/>
              </a:rPr>
              <a:t>查看日志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80" y="501091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B981"/>
                </a:solidFill>
                <a:latin typeface="Microsoft YaHei"/>
              </a:rPr>
              <a:t>查看证据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94192" y="501091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B981"/>
                </a:solidFill>
                <a:latin typeface="Microsoft YaHei"/>
              </a:rPr>
              <a:t>导出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523036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5800" y="5230368"/>
            <a:ext cx="82296" cy="2267712"/>
          </a:xfrm>
          <a:prstGeom prst="rect">
            <a:avLst/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60120" y="543153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0120" y="550468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73352" y="541324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执行 Execute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26280" y="54864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5229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97A2E"/>
                </a:solidFill>
                <a:latin typeface="Microsoft YaHei"/>
              </a:rPr>
              <a:t>EXECUTE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" y="6089904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在阶段工具面内执行修改，全部变更走原子事务与审计。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8408" y="6638544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阶段化工具准入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原子批量事务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失败自动回滚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892040" y="6638544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92040" y="6711696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97A2E"/>
                </a:solidFill>
                <a:latin typeface="Microsoft YaHe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2040" y="7004304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事务回滚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78408" y="7370063"/>
            <a:ext cx="4023360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78408" y="7370063"/>
            <a:ext cx="3218688" cy="91440"/>
          </a:xfrm>
          <a:prstGeom prst="roundRect">
            <a:avLst>
              <a:gd name="adj" fmla="val 50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8408" y="747979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97A2E"/>
                </a:solidFill>
                <a:latin typeface="Microsoft YaHei"/>
              </a:rPr>
              <a:t>查看日志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74519" y="747979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97A2E"/>
                </a:solidFill>
                <a:latin typeface="Microsoft YaHei"/>
              </a:rPr>
              <a:t>查看证据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70632" y="747979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97A2E"/>
                </a:solidFill>
                <a:latin typeface="Microsoft YaHei"/>
              </a:rPr>
              <a:t>导出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09360" y="523036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309360" y="5230368"/>
            <a:ext cx="82296" cy="226771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583680" y="543153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83680" y="550468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96912" y="541324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验证 Verify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149840" y="54864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149840" y="55229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5CF6"/>
                </a:solidFill>
                <a:latin typeface="Microsoft YaHei"/>
              </a:rPr>
              <a:t>VERIFY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01968" y="6089904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以结构、渲染、视觉与官方评估器四层证据确认交付质量。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01968" y="6638544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反例定位与局部修复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证据新鲜度管理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交付前强制 gate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515600" y="6638544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0" y="6711696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Microsoft YaHe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15600" y="7004304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证据层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601968" y="7370063"/>
            <a:ext cx="4023360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601968" y="7370063"/>
            <a:ext cx="2816352" cy="914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01968" y="747979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B5CF6"/>
                </a:solidFill>
                <a:latin typeface="Microsoft YaHei"/>
              </a:rPr>
              <a:t>查看日志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98080" y="747979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B5CF6"/>
                </a:solidFill>
                <a:latin typeface="Microsoft YaHei"/>
              </a:rPr>
              <a:t>查看证据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394192" y="7479792"/>
            <a:ext cx="914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B5CF6"/>
                </a:solidFill>
                <a:latin typeface="Microsoft YaHei"/>
              </a:rPr>
              <a:t>导出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5800" y="6519672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AI Agent Console · 运行状态正常 · 所有阶段证据已归档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