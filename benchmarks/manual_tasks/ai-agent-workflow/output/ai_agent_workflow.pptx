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18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6B544"/>
                </a:solidFill>
                <a:latin typeface="Microsoft YaHei"/>
              </a:rPr>
              <a:t>AI AGENT · WORKFLOW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38360" y="4572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38360" y="512064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● 系统就绪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0467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AI Agent 工作流程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8B8CE"/>
                </a:solidFill>
                <a:latin typeface="Microsoft YaHei"/>
              </a:rPr>
              <a:t>从任务输入到可验证交付的六阶段闭环，每个阶段都产出可审计证据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交付物 · 结构化证据 · 可恢复会话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59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输入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接收指令、附件与工作区上下文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产出：结构化任务对象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660903" y="4096511"/>
            <a:ext cx="146305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34640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99232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0944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80944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任务分类、能力匹配与计划生成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80944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54096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B82F6"/>
                </a:solidFill>
                <a:latin typeface="Microsoft YaHei"/>
              </a:rPr>
              <a:t>产出：执行合同与工具面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80944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80944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837176" y="4096511"/>
            <a:ext cx="146304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10912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75504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57216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规划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57216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拆解阶段、预检风险与依赖关系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0368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06B6D4"/>
                </a:solidFill>
                <a:latin typeface="Microsoft YaHei"/>
              </a:rPr>
              <a:t>产出：执行计划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57216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57216" y="5221224"/>
            <a:ext cx="1514246" cy="9144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013448" y="4096511"/>
            <a:ext cx="146304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187184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51776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33488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执行 Execute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3488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工具调用、原子事务与权限审计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33488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97A2E"/>
                </a:solidFill>
                <a:latin typeface="Microsoft YaHei"/>
              </a:rPr>
              <a:t>产出：候选产物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33488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33488" y="5221224"/>
            <a:ext cx="1261872" cy="91440"/>
          </a:xfrm>
          <a:prstGeom prst="roundRect">
            <a:avLst>
              <a:gd name="adj" fmla="val 5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189719" y="4096511"/>
            <a:ext cx="146305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363456" y="2788920"/>
            <a:ext cx="1975104" cy="2615184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528048" y="295351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63016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验证 Verify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09760" y="4050791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结构、渲染、视觉与官方评估器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09760" y="4800600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82912" y="4855464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0B981"/>
                </a:solidFill>
                <a:latin typeface="Microsoft YaHei"/>
              </a:rPr>
              <a:t>产出：验证证据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60" y="5221224"/>
            <a:ext cx="168249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09760" y="5221224"/>
            <a:ext cx="1009497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58368" y="5742432"/>
            <a:ext cx="10881360" cy="512064"/>
          </a:xfrm>
          <a:prstGeom prst="roundRect">
            <a:avLst>
              <a:gd name="adj" fmla="val 50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852160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6B544"/>
                </a:solidFill>
                <a:latin typeface="Microsoft YaHei"/>
              </a:rPr>
              <a:t>INPUT → UNDERSTAND → PLAN → EXECUTE → VERIFY → DELIVER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46304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A35"/>
                </a:solidFill>
                <a:latin typeface="Microsoft YaHei"/>
              </a:rPr>
              <a:t>AI Agent Console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246888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83464"/>
            <a:ext cx="6583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79" y="283464"/>
            <a:ext cx="6583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83464"/>
            <a:ext cx="6583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3464"/>
            <a:ext cx="6583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设置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28600"/>
            <a:ext cx="14630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B981"/>
                </a:solidFill>
                <a:latin typeface="Microsoft YaHei"/>
              </a:rPr>
              <a:t>● 系统在线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20" y="173736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23774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＋ 新建任务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859536"/>
            <a:ext cx="10789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22A35"/>
                </a:solidFill>
                <a:latin typeface="Microsoft YaHei"/>
              </a:rPr>
              <a:t>工作台 · 四阶段运行视图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280160"/>
            <a:ext cx="10789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6707D"/>
                </a:solidFill>
                <a:latin typeface="Microsoft YaHei"/>
              </a:rPr>
              <a:t>复杂任务被拆解为可验证阶段，状态、指标与证据实时可见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1682496"/>
            <a:ext cx="26151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1682496"/>
            <a:ext cx="73152" cy="71323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755648"/>
            <a:ext cx="22494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22A35"/>
                </a:solidFill>
                <a:latin typeface="Microsoft YaHei"/>
              </a:rPr>
              <a:t>1.2s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103120"/>
            <a:ext cx="22494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7D"/>
                </a:solidFill>
                <a:latin typeface="Microsoft YaHei"/>
              </a:rPr>
              <a:t>平均响应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02152" y="1682496"/>
            <a:ext cx="26151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02152" y="1682496"/>
            <a:ext cx="73152" cy="7132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755648"/>
            <a:ext cx="22494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22A35"/>
                </a:solidFill>
                <a:latin typeface="Microsoft YaHei"/>
              </a:rPr>
              <a:t>98.2%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03120"/>
            <a:ext cx="22494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7D"/>
                </a:solidFill>
                <a:latin typeface="Microsoft YaHei"/>
              </a:rPr>
              <a:t>任务完成率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1682496"/>
            <a:ext cx="26151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1682496"/>
            <a:ext cx="73152" cy="713232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1755648"/>
            <a:ext cx="22494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22A35"/>
                </a:solidFill>
                <a:latin typeface="Microsoft YaHei"/>
              </a:rPr>
              <a:t>99.7%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2103120"/>
            <a:ext cx="22494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7D"/>
                </a:solidFill>
                <a:latin typeface="Microsoft YaHei"/>
              </a:rPr>
              <a:t>工具调用成功率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1682496"/>
            <a:ext cx="26151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34856" y="1682496"/>
            <a:ext cx="73152" cy="71323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36024" y="1755648"/>
            <a:ext cx="22494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22A35"/>
                </a:solidFill>
                <a:latin typeface="Microsoft YaHei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36024" y="2103120"/>
            <a:ext cx="22494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7D"/>
                </a:solidFill>
                <a:latin typeface="Microsoft YaHei"/>
              </a:rPr>
              <a:t>证据覆盖率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2523744"/>
            <a:ext cx="5212080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2523744"/>
            <a:ext cx="82296" cy="181051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23544" y="268833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2743200"/>
            <a:ext cx="4572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26700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A35"/>
                </a:solidFill>
                <a:latin typeface="Microsoft YaHei"/>
              </a:rPr>
              <a:t>输入 Input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99432" y="2724912"/>
            <a:ext cx="1042415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99432" y="2752344"/>
            <a:ext cx="104241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3B82F6"/>
                </a:solidFill>
                <a:latin typeface="Microsoft YaHei"/>
              </a:rPr>
              <a:t>INPUT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3218687"/>
            <a:ext cx="470001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接收指令、附件与工作区上下文，完成意图澄清与队列排序。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3657600"/>
            <a:ext cx="4059936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自然语言与多模态输入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自动发现任务相关文件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生成结构化任务对象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28616" y="3657600"/>
            <a:ext cx="694944" cy="53035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28616" y="3712463"/>
            <a:ext cx="6949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3B82F6"/>
                </a:solidFill>
                <a:latin typeface="Microsoft YaHei"/>
              </a:rPr>
              <a:t>12+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8616" y="3968496"/>
            <a:ext cx="69494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66707D"/>
                </a:solidFill>
                <a:latin typeface="Microsoft YaHei"/>
              </a:rPr>
              <a:t>输入类型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832" y="4279392"/>
            <a:ext cx="405993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41832" y="4279392"/>
            <a:ext cx="4059936" cy="914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433425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3B82F6"/>
                </a:solidFill>
                <a:latin typeface="Microsoft YaHei"/>
              </a:rPr>
              <a:t>查看日志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656" y="433425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3B82F6"/>
                </a:solidFill>
                <a:latin typeface="Microsoft YaHei"/>
              </a:rPr>
              <a:t>查看证据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97480" y="433425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3B82F6"/>
                </a:solidFill>
                <a:latin typeface="Microsoft YaHei"/>
              </a:rPr>
              <a:t>导出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2523744"/>
            <a:ext cx="5212080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2523744"/>
            <a:ext cx="82296" cy="18105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547104" y="268833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7104" y="2743200"/>
            <a:ext cx="4572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0" y="26700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A35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222992" y="2724912"/>
            <a:ext cx="1042415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22992" y="2752344"/>
            <a:ext cx="104241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0B981"/>
                </a:solidFill>
                <a:latin typeface="Microsoft YaHei"/>
              </a:rPr>
              <a:t>UNDERSTAND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65392" y="3218687"/>
            <a:ext cx="470001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解析任务语义，匹配类型、能力与执行合同。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5392" y="3657600"/>
            <a:ext cx="4059936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任务分类与 Skill 选择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能力与工具面解析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风险与依赖预检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52176" y="3657600"/>
            <a:ext cx="694944" cy="53035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52176" y="3712463"/>
            <a:ext cx="6949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0B981"/>
                </a:solidFill>
                <a:latin typeface="Microsoft YaHei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52176" y="3968496"/>
            <a:ext cx="69494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66707D"/>
                </a:solidFill>
                <a:latin typeface="Microsoft YaHei"/>
              </a:rPr>
              <a:t>任务类型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65392" y="4279392"/>
            <a:ext cx="405993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565392" y="4279392"/>
            <a:ext cx="4059936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65392" y="433425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10B981"/>
                </a:solidFill>
                <a:latin typeface="Microsoft YaHei"/>
              </a:rPr>
              <a:t>查看日志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433425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10B981"/>
                </a:solidFill>
                <a:latin typeface="Microsoft YaHei"/>
              </a:rPr>
              <a:t>查看证据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33425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10B981"/>
                </a:solidFill>
                <a:latin typeface="Microsoft YaHei"/>
              </a:rPr>
              <a:t>导出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5800" y="4443984"/>
            <a:ext cx="5212080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5800" y="4443984"/>
            <a:ext cx="82296" cy="1810512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3544" y="4608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3544" y="4663440"/>
            <a:ext cx="4572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08760" y="459028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A35"/>
                </a:solidFill>
                <a:latin typeface="Microsoft YaHei"/>
              </a:rPr>
              <a:t>执行 Execute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99432" y="4645152"/>
            <a:ext cx="1042415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99432" y="4672584"/>
            <a:ext cx="104241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97A2E"/>
                </a:solidFill>
                <a:latin typeface="Microsoft YaHei"/>
              </a:rPr>
              <a:t>EXECUTE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" y="5138928"/>
            <a:ext cx="470001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在阶段工具面内执行修改，全部变更走原子事务与审计。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" y="5577840"/>
            <a:ext cx="4059936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阶段化工具准入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原子批量事务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失败自动回滚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28616" y="5577840"/>
            <a:ext cx="694944" cy="53035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928616" y="5632704"/>
            <a:ext cx="6949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97A2E"/>
                </a:solidFill>
                <a:latin typeface="Microsoft YaHei"/>
              </a:rPr>
              <a:t>100%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28616" y="5888736"/>
            <a:ext cx="69494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66707D"/>
                </a:solidFill>
                <a:latin typeface="Microsoft YaHei"/>
              </a:rPr>
              <a:t>事务回滚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1832" y="6199632"/>
            <a:ext cx="405993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41832" y="6199632"/>
            <a:ext cx="3247948" cy="91440"/>
          </a:xfrm>
          <a:prstGeom prst="roundRect">
            <a:avLst>
              <a:gd name="adj" fmla="val 50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41832" y="625449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97A2E"/>
                </a:solidFill>
                <a:latin typeface="Microsoft YaHei"/>
              </a:rPr>
              <a:t>查看日志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19656" y="625449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97A2E"/>
                </a:solidFill>
                <a:latin typeface="Microsoft YaHei"/>
              </a:rPr>
              <a:t>查看证据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97480" y="625449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97A2E"/>
                </a:solidFill>
                <a:latin typeface="Microsoft YaHei"/>
              </a:rPr>
              <a:t>导出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09360" y="4443984"/>
            <a:ext cx="5212080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309360" y="4443984"/>
            <a:ext cx="82296" cy="181051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547104" y="4608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47104" y="4663440"/>
            <a:ext cx="4572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32320" y="459028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222A35"/>
                </a:solidFill>
                <a:latin typeface="Microsoft YaHei"/>
              </a:rPr>
              <a:t>验证 Verify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222992" y="4645152"/>
            <a:ext cx="1042415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22992" y="4672584"/>
            <a:ext cx="1042415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8B5CF6"/>
                </a:solidFill>
                <a:latin typeface="Microsoft YaHei"/>
              </a:rPr>
              <a:t>VERIFY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138928"/>
            <a:ext cx="4700016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66707D"/>
                </a:solidFill>
                <a:latin typeface="Microsoft YaHei"/>
              </a:rPr>
              <a:t>以结构、渲染、视觉与官方评估器四层证据确认交付质量。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65392" y="5577840"/>
            <a:ext cx="4059936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反例定位与局部修复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证据新鲜度管理</a:t>
            </a:r>
          </a:p>
          <a:p>
            <a:pPr algn="l">
              <a:lnSpc>
                <a:spcPct val="98000"/>
              </a:lnSpc>
            </a:pPr>
            <a:r>
              <a:rPr sz="950" b="0">
                <a:solidFill>
                  <a:srgbClr val="222A35"/>
                </a:solidFill>
                <a:latin typeface="Microsoft YaHei"/>
              </a:rPr>
              <a:t>•  交付前强制 gate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552176" y="5577840"/>
            <a:ext cx="694944" cy="53035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52176" y="5632704"/>
            <a:ext cx="6949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8B5CF6"/>
                </a:solidFill>
                <a:latin typeface="Microsoft YaHei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52176" y="5888736"/>
            <a:ext cx="69494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66707D"/>
                </a:solidFill>
                <a:latin typeface="Microsoft YaHei"/>
              </a:rPr>
              <a:t>证据层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565392" y="6199632"/>
            <a:ext cx="4059936" cy="91440"/>
          </a:xfrm>
          <a:prstGeom prst="roundRect">
            <a:avLst>
              <a:gd name="adj" fmla="val 50000"/>
            </a:avLst>
          </a:prstGeom>
          <a:solidFill>
            <a:srgbClr val="2A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565392" y="6199632"/>
            <a:ext cx="2841955" cy="914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65392" y="625449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8B5CF6"/>
                </a:solidFill>
                <a:latin typeface="Microsoft YaHei"/>
              </a:rPr>
              <a:t>查看日志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43216" y="625449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8B5CF6"/>
                </a:solidFill>
                <a:latin typeface="Microsoft YaHei"/>
              </a:rPr>
              <a:t>查看证据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625449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8B5CF6"/>
                </a:solidFill>
                <a:latin typeface="Microsoft YaHei"/>
              </a:rPr>
              <a:t>导出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" y="651967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AI Agent Console · 运行状态正常 · 所有阶段证据已归档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