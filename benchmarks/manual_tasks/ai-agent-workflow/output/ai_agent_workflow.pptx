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Q1: 流程起点</a:t>
            </a:r>
          </a:p>
          <a:p>
            <a:r>
              <a:t>Q2: 规划阶段</a:t>
            </a:r>
          </a:p>
          <a:p>
            <a:r>
              <a:t>Q3: 行动阶段</a:t>
            </a:r>
          </a:p>
          <a:p>
            <a:r>
              <a:t>Q4: 收尾阶段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547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1695" cy="64008"/>
          </a:xfrm>
          <a:prstGeom prst="rect">
            <a:avLst/>
          </a:prstGeom>
          <a:solidFill>
            <a:srgbClr val="F09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09728"/>
            <a:ext cx="11155680" cy="8229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25000"/>
              </a:lnSpc>
            </a:pPr>
            <a:r>
              <a:rPr sz="2600" b="1">
                <a:solidFill>
                  <a:srgbClr val="FFFFFF"/>
                </a:solidFill>
                <a:latin typeface="Microsoft YaHei"/>
              </a:rPr>
              <a:t>AI Agent 工作流程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554480"/>
            <a:ext cx="10515600" cy="47548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25000"/>
              </a:lnSpc>
            </a:pPr>
            <a:r>
              <a:rPr sz="1800" b="0">
                <a:solidFill>
                  <a:srgbClr val="2B2B2B"/>
                </a:solidFill>
                <a:latin typeface="Microsoft YaHei"/>
              </a:rPr>
              <a:t>•  输入 → 理解 → 执行 → 验证</a:t>
            </a:r>
          </a:p>
          <a:p>
            <a:pPr>
              <a:lnSpc>
                <a:spcPct val="125000"/>
              </a:lnSpc>
            </a:pPr>
            <a:r>
              <a:rPr sz="1800" b="0">
                <a:solidFill>
                  <a:srgbClr val="2B2B2B"/>
                </a:solidFill>
                <a:latin typeface="Microsoft YaHei"/>
              </a:rPr>
              <a:t>•  HTML 页面风格排版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2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46304"/>
            <a:ext cx="8961120" cy="475488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25000"/>
              </a:lnSpc>
            </a:pPr>
            <a:r>
              <a:rPr sz="2500" b="1">
                <a:solidFill>
                  <a:srgbClr val="FFFFFF"/>
                </a:solidFill>
                <a:latin typeface="Microsoft YaHei"/>
              </a:rPr>
              <a:t>AI Agent 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1078992"/>
            <a:ext cx="5504688" cy="2359152"/>
          </a:xfrm>
          <a:prstGeom prst="rect">
            <a:avLst/>
          </a:prstGeom>
          <a:solidFill>
            <a:srgbClr val="FFFFFF"/>
          </a:solidFill>
          <a:ln w="13970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8912" y="1078992"/>
            <a:ext cx="73152" cy="2359152"/>
          </a:xfrm>
          <a:prstGeom prst="rect">
            <a:avLst/>
          </a:prstGeom>
          <a:solidFill>
            <a:srgbClr val="F09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7512" y="1243584"/>
            <a:ext cx="502920" cy="292608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25000"/>
              </a:lnSpc>
            </a:pPr>
            <a:r>
              <a:rPr sz="1100" b="1">
                <a:solidFill>
                  <a:srgbClr val="878787"/>
                </a:solidFill>
                <a:latin typeface="Microsoft YaHei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19" y="1197864"/>
            <a:ext cx="2697480" cy="4114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616"/>
                </a:solidFill>
                <a:latin typeface="Microsoft YaHei"/>
              </a:rPr>
              <a:t>输入 Input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59352" y="1170432"/>
            <a:ext cx="1691640" cy="43891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800" b="1">
                <a:solidFill>
                  <a:srgbClr val="161616"/>
                </a:solidFill>
                <a:latin typeface="Microsoft YaHe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1737360"/>
            <a:ext cx="4956048" cy="1298448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08000"/>
              </a:lnSpc>
            </a:pPr>
            <a:r>
              <a:rPr sz="1100" b="0">
                <a:solidFill>
                  <a:srgbClr val="2B2B2B"/>
                </a:solidFill>
                <a:latin typeface="Microsoft YaHei"/>
              </a:rPr>
              <a:t>接收用户指令与任务输入</a:t>
            </a:r>
          </a:p>
          <a:p>
            <a:pPr>
              <a:lnSpc>
                <a:spcPct val="108000"/>
              </a:lnSpc>
            </a:pPr>
            <a:r>
              <a:rPr sz="1100" b="0">
                <a:solidFill>
                  <a:srgbClr val="2B2B2B"/>
                </a:solidFill>
                <a:latin typeface="Microsoft YaHei"/>
              </a:rPr>
              <a:t>• 明确任务目标</a:t>
            </a:r>
          </a:p>
          <a:p>
            <a:pPr>
              <a:lnSpc>
                <a:spcPct val="108000"/>
              </a:lnSpc>
            </a:pPr>
            <a:r>
              <a:rPr sz="1100" b="0">
                <a:solidFill>
                  <a:srgbClr val="2B2B2B"/>
                </a:solidFill>
                <a:latin typeface="Microsoft YaHei"/>
              </a:rPr>
              <a:t>• 收集所需信息</a:t>
            </a:r>
          </a:p>
        </p:txBody>
      </p:sp>
      <p:sp>
        <p:nvSpPr>
          <p:cNvPr id="11" name="Q1_provenance_流程起点"/>
          <p:cNvSpPr txBox="1"/>
          <p:nvPr/>
        </p:nvSpPr>
        <p:spPr>
          <a:xfrm>
            <a:off x="694944" y="3081528"/>
            <a:ext cx="4892040" cy="201168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25000"/>
              </a:lnSpc>
            </a:pPr>
            <a:r>
              <a:rPr sz="800" b="0">
                <a:solidFill>
                  <a:srgbClr val="878787"/>
                </a:solidFill>
                <a:latin typeface="Microsoft YaHei"/>
              </a:rPr>
              <a:t>流程起点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45352" y="1078992"/>
            <a:ext cx="5504688" cy="2359152"/>
          </a:xfrm>
          <a:prstGeom prst="rect">
            <a:avLst/>
          </a:prstGeom>
          <a:solidFill>
            <a:srgbClr val="FFFFFF"/>
          </a:solidFill>
          <a:ln w="13970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5352" y="1078992"/>
            <a:ext cx="73152" cy="2359152"/>
          </a:xfrm>
          <a:prstGeom prst="rect">
            <a:avLst/>
          </a:prstGeom>
          <a:solidFill>
            <a:srgbClr val="F09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1243584"/>
            <a:ext cx="502920" cy="292608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25000"/>
              </a:lnSpc>
            </a:pPr>
            <a:r>
              <a:rPr sz="1100" b="1">
                <a:solidFill>
                  <a:srgbClr val="878787"/>
                </a:solidFill>
                <a:latin typeface="Microsoft YaHei"/>
              </a:rPr>
              <a:t>Q2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95160" y="1197864"/>
            <a:ext cx="2697480" cy="4114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616"/>
                </a:solidFill>
                <a:latin typeface="Microsoft YaHei"/>
              </a:rPr>
              <a:t>理解 Understand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65792" y="1170432"/>
            <a:ext cx="1691640" cy="43891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800" b="1">
                <a:solidFill>
                  <a:srgbClr val="161616"/>
                </a:solidFill>
                <a:latin typeface="Microsoft YaHei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01384" y="1737360"/>
            <a:ext cx="4956048" cy="1298448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08000"/>
              </a:lnSpc>
            </a:pPr>
            <a:r>
              <a:rPr sz="1100" b="0">
                <a:solidFill>
                  <a:srgbClr val="2B2B2B"/>
                </a:solidFill>
                <a:latin typeface="Microsoft YaHei"/>
              </a:rPr>
              <a:t>解析意图并制定执行计划</a:t>
            </a:r>
          </a:p>
          <a:p>
            <a:pPr>
              <a:lnSpc>
                <a:spcPct val="108000"/>
              </a:lnSpc>
            </a:pPr>
            <a:r>
              <a:rPr sz="1100" b="0">
                <a:solidFill>
                  <a:srgbClr val="2B2B2B"/>
                </a:solidFill>
                <a:latin typeface="Microsoft YaHei"/>
              </a:rPr>
              <a:t>• 语义理解</a:t>
            </a:r>
          </a:p>
          <a:p>
            <a:pPr>
              <a:lnSpc>
                <a:spcPct val="108000"/>
              </a:lnSpc>
            </a:pPr>
            <a:r>
              <a:rPr sz="1100" b="0">
                <a:solidFill>
                  <a:srgbClr val="2B2B2B"/>
                </a:solidFill>
                <a:latin typeface="Microsoft YaHei"/>
              </a:rPr>
              <a:t>• 规划工具调用</a:t>
            </a:r>
          </a:p>
        </p:txBody>
      </p:sp>
      <p:sp>
        <p:nvSpPr>
          <p:cNvPr id="18" name="Q2_provenance_规划阶段"/>
          <p:cNvSpPr txBox="1"/>
          <p:nvPr/>
        </p:nvSpPr>
        <p:spPr>
          <a:xfrm>
            <a:off x="6501384" y="3081528"/>
            <a:ext cx="4892040" cy="201168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25000"/>
              </a:lnSpc>
            </a:pPr>
            <a:r>
              <a:rPr sz="800" b="0">
                <a:solidFill>
                  <a:srgbClr val="878787"/>
                </a:solidFill>
                <a:latin typeface="Microsoft YaHei"/>
              </a:rPr>
              <a:t>规划阶段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8912" y="3767328"/>
            <a:ext cx="5504688" cy="2359152"/>
          </a:xfrm>
          <a:prstGeom prst="rect">
            <a:avLst/>
          </a:prstGeom>
          <a:solidFill>
            <a:srgbClr val="FFFFFF"/>
          </a:solidFill>
          <a:ln w="13970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38912" y="3767328"/>
            <a:ext cx="73152" cy="2359152"/>
          </a:xfrm>
          <a:prstGeom prst="rect">
            <a:avLst/>
          </a:prstGeom>
          <a:solidFill>
            <a:srgbClr val="F09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7512" y="3931920"/>
            <a:ext cx="502920" cy="292608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25000"/>
              </a:lnSpc>
            </a:pPr>
            <a:r>
              <a:rPr sz="1100" b="1">
                <a:solidFill>
                  <a:srgbClr val="878787"/>
                </a:solidFill>
                <a:latin typeface="Microsoft YaHei"/>
              </a:rPr>
              <a:t>Q3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19" y="3886200"/>
            <a:ext cx="2697480" cy="4114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616"/>
                </a:solidFill>
                <a:latin typeface="Microsoft YaHei"/>
              </a:rPr>
              <a:t>执行 Execute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59352" y="3858768"/>
            <a:ext cx="1691640" cy="43891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800" b="1">
                <a:solidFill>
                  <a:srgbClr val="161616"/>
                </a:solidFill>
                <a:latin typeface="Microsoft YaHei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" y="4425696"/>
            <a:ext cx="4956048" cy="1298448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08000"/>
              </a:lnSpc>
            </a:pPr>
            <a:r>
              <a:rPr sz="1100" b="0">
                <a:solidFill>
                  <a:srgbClr val="2B2B2B"/>
                </a:solidFill>
                <a:latin typeface="Microsoft YaHei"/>
              </a:rPr>
              <a:t>调用工具完成任务动作</a:t>
            </a:r>
          </a:p>
          <a:p>
            <a:pPr>
              <a:lnSpc>
                <a:spcPct val="108000"/>
              </a:lnSpc>
            </a:pPr>
            <a:r>
              <a:rPr sz="1100" b="0">
                <a:solidFill>
                  <a:srgbClr val="2B2B2B"/>
                </a:solidFill>
                <a:latin typeface="Microsoft YaHei"/>
              </a:rPr>
              <a:t>• 执行计划</a:t>
            </a:r>
          </a:p>
          <a:p>
            <a:pPr>
              <a:lnSpc>
                <a:spcPct val="108000"/>
              </a:lnSpc>
            </a:pPr>
            <a:r>
              <a:rPr sz="1100" b="0">
                <a:solidFill>
                  <a:srgbClr val="2B2B2B"/>
                </a:solidFill>
                <a:latin typeface="Microsoft YaHei"/>
              </a:rPr>
              <a:t>• 生成输出结果</a:t>
            </a:r>
          </a:p>
        </p:txBody>
      </p:sp>
      <p:sp>
        <p:nvSpPr>
          <p:cNvPr id="25" name="Q3_provenance_行动阶段"/>
          <p:cNvSpPr txBox="1"/>
          <p:nvPr/>
        </p:nvSpPr>
        <p:spPr>
          <a:xfrm>
            <a:off x="694944" y="5769864"/>
            <a:ext cx="4892040" cy="201168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25000"/>
              </a:lnSpc>
            </a:pPr>
            <a:r>
              <a:rPr sz="800" b="0">
                <a:solidFill>
                  <a:srgbClr val="878787"/>
                </a:solidFill>
                <a:latin typeface="Microsoft YaHei"/>
              </a:rPr>
              <a:t>行动阶段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45352" y="3767328"/>
            <a:ext cx="5504688" cy="2359152"/>
          </a:xfrm>
          <a:prstGeom prst="rect">
            <a:avLst/>
          </a:prstGeom>
          <a:solidFill>
            <a:srgbClr val="FFFFFF"/>
          </a:solidFill>
          <a:ln w="13970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45352" y="3767328"/>
            <a:ext cx="73152" cy="2359152"/>
          </a:xfrm>
          <a:prstGeom prst="rect">
            <a:avLst/>
          </a:prstGeom>
          <a:solidFill>
            <a:srgbClr val="F09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73952" y="3931920"/>
            <a:ext cx="502920" cy="292608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25000"/>
              </a:lnSpc>
            </a:pPr>
            <a:r>
              <a:rPr sz="1100" b="1">
                <a:solidFill>
                  <a:srgbClr val="878787"/>
                </a:solidFill>
                <a:latin typeface="Microsoft YaHei"/>
              </a:rPr>
              <a:t>Q4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95160" y="3886200"/>
            <a:ext cx="2697480" cy="4114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616"/>
                </a:solidFill>
                <a:latin typeface="Microsoft YaHei"/>
              </a:rPr>
              <a:t>验证 Verify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65792" y="3858768"/>
            <a:ext cx="1691640" cy="43891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800" b="1">
                <a:solidFill>
                  <a:srgbClr val="161616"/>
                </a:solidFill>
                <a:latin typeface="Microsoft YaHei"/>
              </a:rPr>
              <a:t>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01384" y="4425696"/>
            <a:ext cx="4956048" cy="1298448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08000"/>
              </a:lnSpc>
            </a:pPr>
            <a:r>
              <a:rPr sz="1100" b="0">
                <a:solidFill>
                  <a:srgbClr val="2B2B2B"/>
                </a:solidFill>
                <a:latin typeface="Microsoft YaHei"/>
              </a:rPr>
              <a:t>检查结果并迭代优化</a:t>
            </a:r>
          </a:p>
          <a:p>
            <a:pPr>
              <a:lnSpc>
                <a:spcPct val="108000"/>
              </a:lnSpc>
            </a:pPr>
            <a:r>
              <a:rPr sz="1100" b="0">
                <a:solidFill>
                  <a:srgbClr val="2B2B2B"/>
                </a:solidFill>
                <a:latin typeface="Microsoft YaHei"/>
              </a:rPr>
              <a:t>• 结果校验</a:t>
            </a:r>
          </a:p>
          <a:p>
            <a:pPr>
              <a:lnSpc>
                <a:spcPct val="108000"/>
              </a:lnSpc>
            </a:pPr>
            <a:r>
              <a:rPr sz="1100" b="0">
                <a:solidFill>
                  <a:srgbClr val="2B2B2B"/>
                </a:solidFill>
                <a:latin typeface="Microsoft YaHei"/>
              </a:rPr>
              <a:t>• 交付最终成果</a:t>
            </a:r>
          </a:p>
        </p:txBody>
      </p:sp>
      <p:sp>
        <p:nvSpPr>
          <p:cNvPr id="32" name="Q4_provenance_收尾阶段"/>
          <p:cNvSpPr txBox="1"/>
          <p:nvPr/>
        </p:nvSpPr>
        <p:spPr>
          <a:xfrm>
            <a:off x="6501384" y="5769864"/>
            <a:ext cx="4892040" cy="201168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25000"/>
              </a:lnSpc>
            </a:pPr>
            <a:r>
              <a:rPr sz="800" b="0">
                <a:solidFill>
                  <a:srgbClr val="878787"/>
                </a:solidFill>
                <a:latin typeface="Microsoft YaHei"/>
              </a:rPr>
              <a:t>收尾阶段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8912" y="6355080"/>
            <a:ext cx="11311128" cy="384048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25000"/>
              </a:lnSpc>
            </a:pPr>
            <a:r>
              <a:rPr sz="1800" b="0">
                <a:solidFill>
                  <a:srgbClr val="2B2B2B"/>
                </a:solidFill>
                <a:latin typeface="Microsoft YaHei"/>
              </a:rPr>
              <a:t>就绪 Ready  ·  四阶段串联闭环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