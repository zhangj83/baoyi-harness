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6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8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6B544"/>
                </a:solidFill>
                <a:latin typeface="Microsoft YaHei"/>
              </a:rPr>
              <a:t>AI AGENT · WORKFLOW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8360" y="457200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51206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● 系统就绪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804672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AI Agent 工作流程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8B8CE"/>
                </a:solidFill>
                <a:latin typeface="Microsoft YaHei"/>
              </a:rPr>
              <a:t>从任务输入到可验证交付的六阶段闭环，每个阶段都产出可审计证据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91072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8B8CE"/>
                </a:solidFill>
                <a:latin typeface="Microsoft YaHei"/>
              </a:rPr>
              <a:t>交付物 · 结构化证据 · 可恢复会话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1675333" cy="2615184"/>
          </a:xfrm>
          <a:prstGeom prst="roundRect">
            <a:avLst>
              <a:gd name="adj" fmla="val 10000"/>
            </a:avLst>
          </a:prstGeom>
          <a:solidFill>
            <a:srgbClr val="182B46"/>
          </a:solidFill>
          <a:ln w="9525">
            <a:solidFill>
              <a:srgbClr val="2E4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29535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6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A2B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575303"/>
            <a:ext cx="145587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输入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995928"/>
            <a:ext cx="145587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A8B8CE"/>
                </a:solidFill>
                <a:latin typeface="Microsoft YaHei"/>
              </a:rPr>
              <a:t>指令、附件与上下文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4727448"/>
            <a:ext cx="1455877" cy="310896"/>
          </a:xfrm>
          <a:prstGeom prst="roundRect">
            <a:avLst>
              <a:gd name="adj" fmla="val 50000"/>
            </a:avLst>
          </a:prstGeom>
          <a:solidFill>
            <a:srgbClr val="21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782312"/>
            <a:ext cx="134614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6B544"/>
                </a:solidFill>
                <a:latin typeface="Microsoft YaHei"/>
              </a:rPr>
              <a:t>结构化任务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5148072"/>
            <a:ext cx="1455877" cy="91440"/>
          </a:xfrm>
          <a:prstGeom prst="roundRect">
            <a:avLst>
              <a:gd name="adj" fmla="val 50000"/>
            </a:avLst>
          </a:prstGeom>
          <a:solidFill>
            <a:srgbClr val="2A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" y="5148072"/>
            <a:ext cx="1455877" cy="91440"/>
          </a:xfrm>
          <a:prstGeom prst="roundRect">
            <a:avLst>
              <a:gd name="adj" fmla="val 50000"/>
            </a:avLst>
          </a:prstGeom>
          <a:solidFill>
            <a:srgbClr val="F6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356561" y="4096511"/>
            <a:ext cx="118872" cy="0"/>
          </a:xfrm>
          <a:prstGeom prst="line">
            <a:avLst/>
          </a:prstGeom>
          <a:ln w="25400">
            <a:solidFill>
              <a:srgbClr val="F6B544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498293" y="2788920"/>
            <a:ext cx="1675333" cy="2615184"/>
          </a:xfrm>
          <a:prstGeom prst="roundRect">
            <a:avLst>
              <a:gd name="adj" fmla="val 10000"/>
            </a:avLst>
          </a:prstGeom>
          <a:solidFill>
            <a:srgbClr val="182B46"/>
          </a:solidFill>
          <a:ln w="9525">
            <a:solidFill>
              <a:srgbClr val="2E4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26309" y="29535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A2B"/>
                </a:solidFill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8021" y="3575303"/>
            <a:ext cx="145587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理解 Understand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8021" y="3995928"/>
            <a:ext cx="145587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A8B8CE"/>
                </a:solidFill>
                <a:latin typeface="Microsoft YaHei"/>
              </a:rPr>
              <a:t>分类、能力与计划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8021" y="4727448"/>
            <a:ext cx="1455877" cy="310896"/>
          </a:xfrm>
          <a:prstGeom prst="roundRect">
            <a:avLst>
              <a:gd name="adj" fmla="val 50000"/>
            </a:avLst>
          </a:prstGeom>
          <a:solidFill>
            <a:srgbClr val="21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2885" y="4782312"/>
            <a:ext cx="134614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B82F6"/>
                </a:solidFill>
                <a:latin typeface="Microsoft YaHei"/>
              </a:rPr>
              <a:t>执行合同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8021" y="5148072"/>
            <a:ext cx="1455877" cy="91440"/>
          </a:xfrm>
          <a:prstGeom prst="roundRect">
            <a:avLst>
              <a:gd name="adj" fmla="val 50000"/>
            </a:avLst>
          </a:prstGeom>
          <a:solidFill>
            <a:srgbClr val="2A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08021" y="5148072"/>
            <a:ext cx="1455877" cy="91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196486" y="4096511"/>
            <a:ext cx="118872" cy="0"/>
          </a:xfrm>
          <a:prstGeom prst="line">
            <a:avLst/>
          </a:prstGeom>
          <a:ln w="25400">
            <a:solidFill>
              <a:srgbClr val="F6B544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38218" y="2788920"/>
            <a:ext cx="1675333" cy="2615184"/>
          </a:xfrm>
          <a:prstGeom prst="roundRect">
            <a:avLst>
              <a:gd name="adj" fmla="val 10000"/>
            </a:avLst>
          </a:prstGeom>
          <a:solidFill>
            <a:srgbClr val="182B46"/>
          </a:solidFill>
          <a:ln w="9525">
            <a:solidFill>
              <a:srgbClr val="2E4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66234" y="29535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A2B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7946" y="3575303"/>
            <a:ext cx="145587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规划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7946" y="3995928"/>
            <a:ext cx="145587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A8B8CE"/>
                </a:solidFill>
                <a:latin typeface="Microsoft YaHei"/>
              </a:rPr>
              <a:t>阶段、风险与依赖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7946" y="4727448"/>
            <a:ext cx="1455877" cy="310896"/>
          </a:xfrm>
          <a:prstGeom prst="roundRect">
            <a:avLst>
              <a:gd name="adj" fmla="val 50000"/>
            </a:avLst>
          </a:prstGeom>
          <a:solidFill>
            <a:srgbClr val="21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2810" y="4782312"/>
            <a:ext cx="134614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6B6D4"/>
                </a:solidFill>
                <a:latin typeface="Microsoft YaHei"/>
              </a:rPr>
              <a:t>执行计划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7946" y="5148072"/>
            <a:ext cx="1455877" cy="91440"/>
          </a:xfrm>
          <a:prstGeom prst="roundRect">
            <a:avLst>
              <a:gd name="adj" fmla="val 50000"/>
            </a:avLst>
          </a:prstGeom>
          <a:solidFill>
            <a:srgbClr val="2A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47946" y="5148072"/>
            <a:ext cx="1310289" cy="9144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036411" y="4096511"/>
            <a:ext cx="118872" cy="0"/>
          </a:xfrm>
          <a:prstGeom prst="line">
            <a:avLst/>
          </a:prstGeom>
          <a:ln w="25400">
            <a:solidFill>
              <a:srgbClr val="F6B544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178143" y="2788920"/>
            <a:ext cx="1675333" cy="2615184"/>
          </a:xfrm>
          <a:prstGeom prst="roundRect">
            <a:avLst>
              <a:gd name="adj" fmla="val 10000"/>
            </a:avLst>
          </a:prstGeom>
          <a:solidFill>
            <a:srgbClr val="182B46"/>
          </a:solidFill>
          <a:ln w="9525">
            <a:solidFill>
              <a:srgbClr val="2E4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6159" y="29535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A2B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7871" y="3575303"/>
            <a:ext cx="145587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执行 Execute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7871" y="3995928"/>
            <a:ext cx="145587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A8B8CE"/>
                </a:solidFill>
                <a:latin typeface="Microsoft YaHei"/>
              </a:rPr>
              <a:t>调用、事务与审计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87871" y="4727448"/>
            <a:ext cx="1455877" cy="310896"/>
          </a:xfrm>
          <a:prstGeom prst="roundRect">
            <a:avLst>
              <a:gd name="adj" fmla="val 50000"/>
            </a:avLst>
          </a:prstGeom>
          <a:solidFill>
            <a:srgbClr val="21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2735" y="4782312"/>
            <a:ext cx="134614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97A2E"/>
                </a:solidFill>
                <a:latin typeface="Microsoft YaHei"/>
              </a:rPr>
              <a:t>候选产物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87871" y="5148072"/>
            <a:ext cx="1455877" cy="91440"/>
          </a:xfrm>
          <a:prstGeom prst="roundRect">
            <a:avLst>
              <a:gd name="adj" fmla="val 50000"/>
            </a:avLst>
          </a:prstGeom>
          <a:solidFill>
            <a:srgbClr val="2A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87871" y="5148072"/>
            <a:ext cx="1091907" cy="91440"/>
          </a:xfrm>
          <a:prstGeom prst="roundRect">
            <a:avLst>
              <a:gd name="adj" fmla="val 50000"/>
            </a:avLst>
          </a:prstGeom>
          <a:solidFill>
            <a:srgbClr val="F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7876336" y="4096511"/>
            <a:ext cx="118872" cy="0"/>
          </a:xfrm>
          <a:prstGeom prst="line">
            <a:avLst/>
          </a:prstGeom>
          <a:ln w="25400">
            <a:solidFill>
              <a:srgbClr val="F6B544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018068" y="2788920"/>
            <a:ext cx="1675333" cy="2615184"/>
          </a:xfrm>
          <a:prstGeom prst="roundRect">
            <a:avLst>
              <a:gd name="adj" fmla="val 10000"/>
            </a:avLst>
          </a:prstGeom>
          <a:solidFill>
            <a:srgbClr val="182B46"/>
          </a:solidFill>
          <a:ln w="9525">
            <a:solidFill>
              <a:srgbClr val="2E4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46084" y="29535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A2B"/>
                </a:solidFill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27796" y="3575303"/>
            <a:ext cx="145587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验证 Verify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27796" y="3995928"/>
            <a:ext cx="145587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A8B8CE"/>
                </a:solidFill>
                <a:latin typeface="Microsoft YaHei"/>
              </a:rPr>
              <a:t>结构、渲染与评估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7796" y="4727448"/>
            <a:ext cx="1455877" cy="310896"/>
          </a:xfrm>
          <a:prstGeom prst="roundRect">
            <a:avLst>
              <a:gd name="adj" fmla="val 50000"/>
            </a:avLst>
          </a:prstGeom>
          <a:solidFill>
            <a:srgbClr val="21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2660" y="4782312"/>
            <a:ext cx="134614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0B981"/>
                </a:solidFill>
                <a:latin typeface="Microsoft YaHei"/>
              </a:rPr>
              <a:t>验证证据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27796" y="5148072"/>
            <a:ext cx="1455877" cy="91440"/>
          </a:xfrm>
          <a:prstGeom prst="roundRect">
            <a:avLst>
              <a:gd name="adj" fmla="val 50000"/>
            </a:avLst>
          </a:prstGeom>
          <a:solidFill>
            <a:srgbClr val="2A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127796" y="5148072"/>
            <a:ext cx="873526" cy="91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9716262" y="4096511"/>
            <a:ext cx="118872" cy="0"/>
          </a:xfrm>
          <a:prstGeom prst="line">
            <a:avLst/>
          </a:prstGeom>
          <a:ln w="25400">
            <a:solidFill>
              <a:srgbClr val="F6B544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857994" y="2788920"/>
            <a:ext cx="1675333" cy="2615184"/>
          </a:xfrm>
          <a:prstGeom prst="roundRect">
            <a:avLst>
              <a:gd name="adj" fmla="val 10000"/>
            </a:avLst>
          </a:prstGeom>
          <a:solidFill>
            <a:srgbClr val="182B46"/>
          </a:solidFill>
          <a:ln w="9525">
            <a:solidFill>
              <a:srgbClr val="2E4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86010" y="29535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A2B"/>
                </a:solidFill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7722" y="3575303"/>
            <a:ext cx="145587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交付 Deliver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7722" y="3995928"/>
            <a:ext cx="145587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A8B8CE"/>
                </a:solidFill>
                <a:latin typeface="Microsoft YaHei"/>
              </a:rPr>
              <a:t>保存、摘要与归档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67722" y="4727448"/>
            <a:ext cx="1455877" cy="310896"/>
          </a:xfrm>
          <a:prstGeom prst="roundRect">
            <a:avLst>
              <a:gd name="adj" fmla="val 50000"/>
            </a:avLst>
          </a:prstGeom>
          <a:solidFill>
            <a:srgbClr val="21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22586" y="4782312"/>
            <a:ext cx="134614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8B5CF6"/>
                </a:solidFill>
                <a:latin typeface="Microsoft YaHei"/>
              </a:rPr>
              <a:t>最终交付物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67722" y="5148072"/>
            <a:ext cx="1455877" cy="91440"/>
          </a:xfrm>
          <a:prstGeom prst="roundRect">
            <a:avLst>
              <a:gd name="adj" fmla="val 50000"/>
            </a:avLst>
          </a:prstGeom>
          <a:solidFill>
            <a:srgbClr val="2A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967722" y="5148072"/>
            <a:ext cx="73152" cy="914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58368" y="5742432"/>
            <a:ext cx="10881360" cy="512064"/>
          </a:xfrm>
          <a:prstGeom prst="roundRect">
            <a:avLst>
              <a:gd name="adj" fmla="val 50000"/>
            </a:avLst>
          </a:prstGeom>
          <a:solidFill>
            <a:srgbClr val="182B46"/>
          </a:solidFill>
          <a:ln w="9525">
            <a:solidFill>
              <a:srgbClr val="2E4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" y="5852160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6B544"/>
                </a:solidFill>
                <a:latin typeface="Microsoft YaHei"/>
              </a:rPr>
              <a:t>INPUT → UNDERSTAND → PLAN → EXECUTE → VERIFY → DELIVER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8288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6304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A35"/>
                </a:solidFill>
                <a:latin typeface="Microsoft YaHei"/>
              </a:rPr>
              <a:t>AI Agent Console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4688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83464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79" y="283464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707D"/>
                </a:solidFill>
                <a:latin typeface="Microsoft YaHei"/>
              </a:rPr>
              <a:t>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83464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707D"/>
                </a:solidFill>
                <a:latin typeface="Microsoft YaHei"/>
              </a:rPr>
              <a:t>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3464"/>
            <a:ext cx="658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707D"/>
                </a:solidFill>
                <a:latin typeface="Microsoft YaHei"/>
              </a:rPr>
              <a:t>设置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2860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B981"/>
                </a:solidFill>
                <a:latin typeface="Microsoft YaHei"/>
              </a:rPr>
              <a:t>● 系统在线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73736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23774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＋ 新建任务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859536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22A35"/>
                </a:solidFill>
                <a:latin typeface="Microsoft YaHei"/>
              </a:rPr>
              <a:t>工作台 · 四阶段运行视图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280160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6707D"/>
                </a:solidFill>
                <a:latin typeface="Microsoft YaHei"/>
              </a:rPr>
              <a:t>复杂任务被拆解为可验证阶段，状态、指标与证据实时可见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1682496"/>
            <a:ext cx="261518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1682496"/>
            <a:ext cx="73152" cy="7132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1755648"/>
            <a:ext cx="2249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22A35"/>
                </a:solidFill>
                <a:latin typeface="Microsoft YaHei"/>
              </a:rPr>
              <a:t>1.2s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103120"/>
            <a:ext cx="22494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707D"/>
                </a:solidFill>
                <a:latin typeface="Microsoft YaHei"/>
              </a:rPr>
              <a:t>平均响应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2152" y="1682496"/>
            <a:ext cx="261518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2152" y="1682496"/>
            <a:ext cx="73152" cy="7132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1755648"/>
            <a:ext cx="2249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22A35"/>
                </a:solidFill>
                <a:latin typeface="Microsoft YaHei"/>
              </a:rPr>
              <a:t>98.2%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103120"/>
            <a:ext cx="22494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707D"/>
                </a:solidFill>
                <a:latin typeface="Microsoft YaHei"/>
              </a:rPr>
              <a:t>任务完成率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8504" y="1682496"/>
            <a:ext cx="261518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18504" y="1682496"/>
            <a:ext cx="73152" cy="713232"/>
          </a:xfrm>
          <a:prstGeom prst="rect">
            <a:avLst/>
          </a:prstGeom>
          <a:solidFill>
            <a:srgbClr val="F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1755648"/>
            <a:ext cx="2249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22A35"/>
                </a:solidFill>
                <a:latin typeface="Microsoft YaHei"/>
              </a:rPr>
              <a:t>99.7%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2103120"/>
            <a:ext cx="22494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707D"/>
                </a:solidFill>
                <a:latin typeface="Microsoft YaHei"/>
              </a:rPr>
              <a:t>工具调用成功率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856" y="1682496"/>
            <a:ext cx="261518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34856" y="1682496"/>
            <a:ext cx="73152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36024" y="1755648"/>
            <a:ext cx="2249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22A35"/>
                </a:solidFill>
                <a:latin typeface="Microsoft YaHei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4" y="2103120"/>
            <a:ext cx="22494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6707D"/>
                </a:solidFill>
                <a:latin typeface="Microsoft YaHei"/>
              </a:rPr>
              <a:t>证据覆盖率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2523744"/>
            <a:ext cx="5212080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2523744"/>
            <a:ext cx="82296" cy="181051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" y="26883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2743200"/>
            <a:ext cx="457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267004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A35"/>
                </a:solidFill>
                <a:latin typeface="Microsoft YaHei"/>
              </a:rPr>
              <a:t>输入 Input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99432" y="2724912"/>
            <a:ext cx="1042415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9432" y="2752344"/>
            <a:ext cx="10424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B82F6"/>
                </a:solidFill>
                <a:latin typeface="Microsoft YaHei"/>
              </a:rPr>
              <a:t>INPUT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3218687"/>
            <a:ext cx="470001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6707D"/>
                </a:solidFill>
                <a:latin typeface="Microsoft YaHei"/>
              </a:rPr>
              <a:t>接收指令、附件与工作区上下文，完成意图澄清与队列排序。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" y="3657600"/>
            <a:ext cx="40599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自然语言与多模态输入</a:t>
            </a:r>
          </a:p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自动发现任务相关文件</a:t>
            </a:r>
          </a:p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生成结构化任务对象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28616" y="3657600"/>
            <a:ext cx="694944" cy="530352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28616" y="3712463"/>
            <a:ext cx="694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B82F6"/>
                </a:solidFill>
                <a:latin typeface="Microsoft YaHei"/>
              </a:rPr>
              <a:t>12+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8616" y="3968496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66707D"/>
                </a:solidFill>
                <a:latin typeface="Microsoft YaHei"/>
              </a:rPr>
              <a:t>输入类型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2" y="4279392"/>
            <a:ext cx="4059936" cy="91440"/>
          </a:xfrm>
          <a:prstGeom prst="roundRect">
            <a:avLst>
              <a:gd name="adj" fmla="val 50000"/>
            </a:avLst>
          </a:prstGeom>
          <a:solidFill>
            <a:srgbClr val="2A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41832" y="4279392"/>
            <a:ext cx="4059936" cy="91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" y="433425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3B82F6"/>
                </a:solidFill>
                <a:latin typeface="Microsoft YaHei"/>
              </a:rPr>
              <a:t>查看日志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19656" y="433425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3B82F6"/>
                </a:solidFill>
                <a:latin typeface="Microsoft YaHei"/>
              </a:rPr>
              <a:t>查看证据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433425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3B82F6"/>
                </a:solidFill>
                <a:latin typeface="Microsoft YaHei"/>
              </a:rPr>
              <a:t>导出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2523744"/>
            <a:ext cx="5212080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2523744"/>
            <a:ext cx="82296" cy="18105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547104" y="26883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47104" y="2743200"/>
            <a:ext cx="457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267004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A35"/>
                </a:solidFill>
                <a:latin typeface="Microsoft YaHei"/>
              </a:rPr>
              <a:t>理解 Understand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22992" y="2724912"/>
            <a:ext cx="1042415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22992" y="2752344"/>
            <a:ext cx="10424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0B981"/>
                </a:solidFill>
                <a:latin typeface="Microsoft YaHei"/>
              </a:rPr>
              <a:t>UNDERSTAND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5392" y="3218687"/>
            <a:ext cx="470001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6707D"/>
                </a:solidFill>
                <a:latin typeface="Microsoft YaHei"/>
              </a:rPr>
              <a:t>解析任务语义，匹配类型、能力与执行合同。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5392" y="3657600"/>
            <a:ext cx="40599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任务分类与 Skill 选择</a:t>
            </a:r>
          </a:p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能力与工具面解析</a:t>
            </a:r>
          </a:p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风险与依赖预检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52176" y="3657600"/>
            <a:ext cx="694944" cy="530352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52176" y="3712463"/>
            <a:ext cx="694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0B981"/>
                </a:solidFill>
                <a:latin typeface="Microsoft YaHei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52176" y="3968496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66707D"/>
                </a:solidFill>
                <a:latin typeface="Microsoft YaHei"/>
              </a:rPr>
              <a:t>任务类型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65392" y="4279392"/>
            <a:ext cx="4059936" cy="91440"/>
          </a:xfrm>
          <a:prstGeom prst="roundRect">
            <a:avLst>
              <a:gd name="adj" fmla="val 50000"/>
            </a:avLst>
          </a:prstGeom>
          <a:solidFill>
            <a:srgbClr val="2A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65392" y="4279392"/>
            <a:ext cx="4059936" cy="91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65392" y="433425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10B981"/>
                </a:solidFill>
                <a:latin typeface="Microsoft YaHei"/>
              </a:rPr>
              <a:t>查看日志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43216" y="433425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10B981"/>
                </a:solidFill>
                <a:latin typeface="Microsoft YaHei"/>
              </a:rPr>
              <a:t>查看证据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33425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10B981"/>
                </a:solidFill>
                <a:latin typeface="Microsoft YaHei"/>
              </a:rPr>
              <a:t>导出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800" y="4443984"/>
            <a:ext cx="5212080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85800" y="4443984"/>
            <a:ext cx="82296" cy="1810512"/>
          </a:xfrm>
          <a:prstGeom prst="rect">
            <a:avLst/>
          </a:prstGeom>
          <a:solidFill>
            <a:srgbClr val="F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23544" y="46085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3544" y="4663440"/>
            <a:ext cx="457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08760" y="459028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A35"/>
                </a:solidFill>
                <a:latin typeface="Microsoft YaHei"/>
              </a:rPr>
              <a:t>执行 Execute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99432" y="4645152"/>
            <a:ext cx="1042415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99432" y="4672584"/>
            <a:ext cx="10424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97A2E"/>
                </a:solidFill>
                <a:latin typeface="Microsoft YaHei"/>
              </a:rPr>
              <a:t>EXECUTE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1832" y="5138928"/>
            <a:ext cx="470001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6707D"/>
                </a:solidFill>
                <a:latin typeface="Microsoft YaHei"/>
              </a:rPr>
              <a:t>在阶段工具面内执行修改，全部变更走原子事务与审计。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1832" y="5577840"/>
            <a:ext cx="40599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阶段化工具准入</a:t>
            </a:r>
          </a:p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原子批量事务</a:t>
            </a:r>
          </a:p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失败自动回滚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928616" y="5577840"/>
            <a:ext cx="694944" cy="530352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28616" y="5632704"/>
            <a:ext cx="694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A2E"/>
                </a:solidFill>
                <a:latin typeface="Microsoft YaHei"/>
              </a:rPr>
              <a:t>100%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28616" y="5888736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66707D"/>
                </a:solidFill>
                <a:latin typeface="Microsoft YaHei"/>
              </a:rPr>
              <a:t>事务回滚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41832" y="6199632"/>
            <a:ext cx="4059936" cy="91440"/>
          </a:xfrm>
          <a:prstGeom prst="roundRect">
            <a:avLst>
              <a:gd name="adj" fmla="val 50000"/>
            </a:avLst>
          </a:prstGeom>
          <a:solidFill>
            <a:srgbClr val="2A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41832" y="6199632"/>
            <a:ext cx="3247948" cy="91440"/>
          </a:xfrm>
          <a:prstGeom prst="roundRect">
            <a:avLst>
              <a:gd name="adj" fmla="val 50000"/>
            </a:avLst>
          </a:prstGeom>
          <a:solidFill>
            <a:srgbClr val="F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1832" y="625449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F97A2E"/>
                </a:solidFill>
                <a:latin typeface="Microsoft YaHei"/>
              </a:rPr>
              <a:t>查看日志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19656" y="625449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F97A2E"/>
                </a:solidFill>
                <a:latin typeface="Microsoft YaHei"/>
              </a:rPr>
              <a:t>查看证据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97480" y="625449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F97A2E"/>
                </a:solidFill>
                <a:latin typeface="Microsoft YaHei"/>
              </a:rPr>
              <a:t>导出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09360" y="4443984"/>
            <a:ext cx="5212080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309360" y="4443984"/>
            <a:ext cx="82296" cy="181051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547104" y="46085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47104" y="4663440"/>
            <a:ext cx="457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32320" y="459028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A35"/>
                </a:solidFill>
                <a:latin typeface="Microsoft YaHei"/>
              </a:rPr>
              <a:t>验证 Verify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222992" y="4645152"/>
            <a:ext cx="1042415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22992" y="4672584"/>
            <a:ext cx="10424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8B5CF6"/>
                </a:solidFill>
                <a:latin typeface="Microsoft YaHei"/>
              </a:rPr>
              <a:t>VERIFY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65392" y="5138928"/>
            <a:ext cx="470001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66707D"/>
                </a:solidFill>
                <a:latin typeface="Microsoft YaHei"/>
              </a:rPr>
              <a:t>以结构、渲染、视觉与官方评估器四层证据确认交付质量。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65392" y="5577840"/>
            <a:ext cx="40599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反例定位与局部修复</a:t>
            </a:r>
          </a:p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证据新鲜度管理</a:t>
            </a:r>
          </a:p>
          <a:p>
            <a:pPr algn="l">
              <a:lnSpc>
                <a:spcPct val="98000"/>
              </a:lnSpc>
            </a:pPr>
            <a:r>
              <a:rPr sz="950" b="0">
                <a:solidFill>
                  <a:srgbClr val="222A35"/>
                </a:solidFill>
                <a:latin typeface="Microsoft YaHei"/>
              </a:rPr>
              <a:t>•  交付前强制 gate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552176" y="5577840"/>
            <a:ext cx="694944" cy="530352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52176" y="5632704"/>
            <a:ext cx="6949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8B5CF6"/>
                </a:solidFill>
                <a:latin typeface="Microsoft YaHei"/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52176" y="5888736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66707D"/>
                </a:solidFill>
                <a:latin typeface="Microsoft YaHei"/>
              </a:rPr>
              <a:t>证据层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65392" y="6199632"/>
            <a:ext cx="4059936" cy="91440"/>
          </a:xfrm>
          <a:prstGeom prst="roundRect">
            <a:avLst>
              <a:gd name="adj" fmla="val 50000"/>
            </a:avLst>
          </a:prstGeom>
          <a:solidFill>
            <a:srgbClr val="2A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565392" y="6199632"/>
            <a:ext cx="2841955" cy="914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65392" y="625449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B5CF6"/>
                </a:solidFill>
                <a:latin typeface="Microsoft YaHei"/>
              </a:rPr>
              <a:t>查看日志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43216" y="625449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B5CF6"/>
                </a:solidFill>
                <a:latin typeface="Microsoft YaHei"/>
              </a:rPr>
              <a:t>查看证据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625449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B5CF6"/>
                </a:solidFill>
                <a:latin typeface="Microsoft YaHei"/>
              </a:rPr>
              <a:t>导出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F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5800" y="651967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6707D"/>
                </a:solidFill>
                <a:latin typeface="Microsoft YaHei"/>
              </a:rPr>
              <a:t>AI Agent Console · 运行状态正常 · 所有阶段证据已归档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